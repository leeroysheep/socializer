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SOCIALIZER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AI-Powered Social Communication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Presentation Date: November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1. Project Overview</a:t>
            </a:r>
          </a:p>
          <a:p>
            <a:pPr>
              <a:spcBef>
                <a:spcPts val="1200"/>
              </a:spcBef>
              <a:defRPr sz="2000"/>
            </a:pPr>
            <a:r>
              <a:t>2. System Architecture</a:t>
            </a:r>
          </a:p>
          <a:p>
            <a:pPr>
              <a:spcBef>
                <a:spcPts val="1200"/>
              </a:spcBef>
              <a:defRPr sz="2000"/>
            </a:pPr>
            <a:r>
              <a:t>3. Database Structure &amp; Relations</a:t>
            </a:r>
          </a:p>
          <a:p>
            <a:pPr>
              <a:spcBef>
                <a:spcPts val="1200"/>
              </a:spcBef>
              <a:defRPr sz="2000"/>
            </a:pPr>
            <a:r>
              <a:t>4. Key Features</a:t>
            </a:r>
          </a:p>
          <a:p>
            <a:pPr>
              <a:spcBef>
                <a:spcPts val="1200"/>
              </a:spcBef>
              <a:defRPr sz="2000"/>
            </a:pPr>
            <a:r>
              <a:t>5. Backend API (Swagger Demo)</a:t>
            </a:r>
          </a:p>
          <a:p>
            <a:pPr>
              <a:spcBef>
                <a:spcPts val="1200"/>
              </a:spcBef>
              <a:defRPr sz="2000"/>
            </a:pPr>
            <a:r>
              <a:t>6. Frontend Demo</a:t>
            </a:r>
          </a:p>
          <a:p>
            <a:pPr>
              <a:spcBef>
                <a:spcPts val="1200"/>
              </a:spcBef>
              <a:defRPr sz="2000"/>
            </a:pPr>
            <a:r>
              <a:t>7. Security &amp; Encryption</a:t>
            </a:r>
          </a:p>
          <a:p>
            <a:pPr>
              <a:spcBef>
                <a:spcPts val="1200"/>
              </a:spcBef>
              <a:defRPr sz="2000"/>
            </a:pPr>
            <a:r>
              <a:t>8. Performance &amp; Scalability</a:t>
            </a:r>
          </a:p>
          <a:p>
            <a:pPr>
              <a:spcBef>
                <a:spcPts val="1200"/>
              </a:spcBef>
              <a:defRPr sz="2000"/>
            </a:pPr>
            <a:r>
              <a:t>9.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🎯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 b="1"/>
            </a:pPr>
            <a:r>
              <a:t>What is Socializer?</a:t>
            </a:r>
          </a:p>
          <a:p>
            <a:pPr lvl="1">
              <a:spcBef>
                <a:spcPts val="800"/>
              </a:spcBef>
              <a:defRPr sz="1800"/>
            </a:pPr>
            <a:r>
              <a:t>AI-powered social communication platform</a:t>
            </a:r>
          </a:p>
          <a:p>
            <a:pPr lvl="1">
              <a:spcBef>
                <a:spcPts val="800"/>
              </a:spcBef>
              <a:defRPr sz="1800"/>
            </a:pPr>
            <a:r>
              <a:t>Real-time chat with AI assistance</a:t>
            </a:r>
          </a:p>
          <a:p>
            <a:pPr lvl="1">
              <a:spcBef>
                <a:spcPts val="800"/>
              </a:spcBef>
              <a:defRPr sz="1800"/>
            </a:pPr>
            <a:r>
              <a:t>Skill tracking and evaluation</a:t>
            </a:r>
          </a:p>
          <a:p>
            <a:pPr lvl="1">
              <a:spcBef>
                <a:spcPts val="800"/>
              </a:spcBef>
              <a:defRPr sz="1800"/>
            </a:pPr>
            <a:r>
              <a:t>Encrypted user data and conversations</a:t>
            </a:r>
          </a:p>
          <a:p>
            <a:pPr>
              <a:spcBef>
                <a:spcPts val="2000"/>
              </a:spcBef>
              <a:defRPr sz="2400" b="1"/>
            </a:pPr>
            <a:r>
              <a:t>Key Technologies</a:t>
            </a:r>
          </a:p>
          <a:p>
            <a:pPr lvl="1">
              <a:spcBef>
                <a:spcPts val="800"/>
              </a:spcBef>
              <a:defRPr sz="1800"/>
            </a:pPr>
            <a:r>
              <a:t>FastAPI backend (Python)</a:t>
            </a:r>
          </a:p>
          <a:p>
            <a:pPr lvl="1">
              <a:spcBef>
                <a:spcPts val="800"/>
              </a:spcBef>
              <a:defRPr sz="1800"/>
            </a:pPr>
            <a:r>
              <a:t>WebSocket for real-time communication</a:t>
            </a:r>
          </a:p>
          <a:p>
            <a:pPr lvl="1">
              <a:spcBef>
                <a:spcPts val="800"/>
              </a:spcBef>
              <a:defRPr sz="1800"/>
            </a:pPr>
            <a:r>
              <a:t>OpenAI GPT-4 integration</a:t>
            </a:r>
          </a:p>
          <a:p>
            <a:pPr lvl="1">
              <a:spcBef>
                <a:spcPts val="800"/>
              </a:spcBef>
              <a:defRPr sz="1800"/>
            </a:pPr>
            <a:r>
              <a:t>SQLite database with encryption</a:t>
            </a:r>
          </a:p>
          <a:p>
            <a:pPr lvl="1">
              <a:spcBef>
                <a:spcPts val="800"/>
              </a:spcBef>
              <a:defRPr sz="1800"/>
            </a:pPr>
            <a:r>
              <a:t>JWT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Frontend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HTML/CSS/JavaScript</a:t>
            </a:r>
          </a:p>
          <a:p>
            <a:pPr lvl="1">
              <a:spcBef>
                <a:spcPts val="600"/>
              </a:spcBef>
              <a:defRPr sz="1600"/>
            </a:pPr>
            <a:r>
              <a:t>• WebSocket Client</a:t>
            </a:r>
          </a:p>
          <a:p>
            <a:pPr lvl="1">
              <a:spcBef>
                <a:spcPts val="600"/>
              </a:spcBef>
              <a:defRPr sz="1600"/>
            </a:pPr>
            <a:r>
              <a:t>• Responsive UI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API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FastAPI (45+ endpoints)</a:t>
            </a:r>
          </a:p>
          <a:p>
            <a:pPr lvl="1">
              <a:spcBef>
                <a:spcPts val="600"/>
              </a:spcBef>
              <a:defRPr sz="1600"/>
            </a:pPr>
            <a:r>
              <a:t>• RESTful API</a:t>
            </a:r>
          </a:p>
          <a:p>
            <a:pPr lvl="1">
              <a:spcBef>
                <a:spcPts val="600"/>
              </a:spcBef>
              <a:defRPr sz="1600"/>
            </a:pPr>
            <a:r>
              <a:t>• Swagger Documentation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Business Logic</a:t>
            </a:r>
          </a:p>
          <a:p>
            <a:pPr lvl="1">
              <a:spcBef>
                <a:spcPts val="600"/>
              </a:spcBef>
              <a:defRPr sz="1600"/>
            </a:pPr>
            <a:r>
              <a:t>• AI Agent (Modular)</a:t>
            </a:r>
          </a:p>
          <a:p>
            <a:pPr lvl="1">
              <a:spcBef>
                <a:spcPts val="600"/>
              </a:spcBef>
              <a:defRPr sz="1600"/>
            </a:pPr>
            <a:r>
              <a:t>• 5 Extracted Tools</a:t>
            </a:r>
          </a:p>
          <a:p>
            <a:pPr lvl="1">
              <a:spcBef>
                <a:spcPts val="600"/>
              </a:spcBef>
              <a:defRPr sz="1600"/>
            </a:pPr>
            <a:r>
              <a:t>• 3 Handler Classes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Data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SQLite Database</a:t>
            </a:r>
          </a:p>
          <a:p>
            <a:pPr lvl="1">
              <a:spcBef>
                <a:spcPts val="600"/>
              </a:spcBef>
              <a:defRPr sz="1600"/>
            </a:pPr>
            <a:r>
              <a:t>• 15 Tables</a:t>
            </a:r>
          </a:p>
          <a:p>
            <a:pPr lvl="1">
              <a:spcBef>
                <a:spcPts val="600"/>
              </a:spcBef>
              <a:defRPr sz="1600"/>
            </a:pPr>
            <a:r>
              <a:t>• Full Encryption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External Services</a:t>
            </a:r>
          </a:p>
          <a:p>
            <a:pPr lvl="1">
              <a:spcBef>
                <a:spcPts val="600"/>
              </a:spcBef>
              <a:defRPr sz="1600"/>
            </a:pPr>
            <a:r>
              <a:t>• OpenAI GPT-4</a:t>
            </a:r>
          </a:p>
          <a:p>
            <a:pPr lvl="1">
              <a:spcBef>
                <a:spcPts val="600"/>
              </a:spcBef>
              <a:defRPr sz="1600"/>
            </a:pPr>
            <a:r>
              <a:t>• Tavily Search</a:t>
            </a:r>
          </a:p>
          <a:p>
            <a:pPr lvl="1">
              <a:spcBef>
                <a:spcPts val="600"/>
              </a:spcBef>
              <a:defRPr sz="1600"/>
            </a:pPr>
            <a:r>
              <a:t>• Email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🗄️ Database Schema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 b="1"/>
            </a:pPr>
            <a:r>
              <a:t>📊 Entity-Relationship Diagram</a:t>
            </a:r>
          </a:p>
          <a:p>
            <a:pPr>
              <a:spcBef>
                <a:spcPts val="2000"/>
              </a:spcBef>
              <a:defRPr sz="1800" i="1">
                <a:solidFill>
                  <a:srgbClr val="969696"/>
                </a:solidFill>
              </a:defRPr>
            </a:pPr>
            <a:r>
              <a:t>[ER Diagram Image Will Be Added Here]</a:t>
            </a:r>
          </a:p>
          <a:p>
            <a:pPr>
              <a:spcBef>
                <a:spcPts val="3000"/>
              </a:spcBef>
              <a:defRPr sz="2000" b="1"/>
            </a:pPr>
            <a:r>
              <a:t>Core Tables (15):</a:t>
            </a:r>
          </a:p>
          <a:p>
            <a:pPr lvl="1">
              <a:spcBef>
                <a:spcPts val="800"/>
              </a:spcBef>
              <a:defRPr sz="1600"/>
            </a:pPr>
            <a:r>
              <a:t>👥 users - User accounts &amp; authentication</a:t>
            </a:r>
          </a:p>
          <a:p>
            <a:pPr lvl="1">
              <a:spcBef>
                <a:spcPts val="800"/>
              </a:spcBef>
              <a:defRPr sz="1600"/>
            </a:pPr>
            <a:r>
              <a:t>💬 chat_rooms - Communication spaces</a:t>
            </a:r>
          </a:p>
          <a:p>
            <a:pPr lvl="1">
              <a:spcBef>
                <a:spcPts val="800"/>
              </a:spcBef>
              <a:defRPr sz="1600"/>
            </a:pPr>
            <a:r>
              <a:t>📝 messages - Chat messages</a:t>
            </a:r>
          </a:p>
          <a:p>
            <a:pPr lvl="1">
              <a:spcBef>
                <a:spcPts val="800"/>
              </a:spcBef>
              <a:defRPr sz="1600"/>
            </a:pPr>
            <a:r>
              <a:t>🎯 skills - Skill definitions</a:t>
            </a:r>
          </a:p>
          <a:p>
            <a:pPr lvl="1">
              <a:spcBef>
                <a:spcPts val="800"/>
              </a:spcBef>
              <a:defRPr sz="1600"/>
            </a:pPr>
            <a:r>
              <a:t>📚 training - User training progress</a:t>
            </a:r>
          </a:p>
          <a:p>
            <a:pPr lvl="1">
              <a:spcBef>
                <a:spcPts val="800"/>
              </a:spcBef>
              <a:defRPr sz="1600"/>
            </a:pPr>
            <a:r>
              <a:t>🎪 life_events - User life events</a:t>
            </a:r>
          </a:p>
          <a:p>
            <a:pPr lvl="1">
              <a:spcBef>
                <a:spcPts val="800"/>
              </a:spcBef>
              <a:defRPr sz="1600"/>
            </a:pPr>
            <a:r>
              <a:t>🔒 user_preferences - Encrypted preferences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📊 Users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>
                <a:solidFill>
                  <a:srgbClr val="3498DB"/>
                </a:solidFill>
              </a:defRPr>
            </a:pPr>
            <a:r>
              <a:t>Table: users</a:t>
            </a:r>
          </a:p>
          <a:p>
            <a:pPr>
              <a:spcBef>
                <a:spcPts val="1500"/>
              </a:spcBef>
              <a:defRPr sz="1800" b="1"/>
            </a:pPr>
            <a:r>
              <a:t>Columns:</a:t>
            </a:r>
          </a:p>
          <a:p>
            <a:pPr lvl="1">
              <a:spcBef>
                <a:spcPts val="400"/>
              </a:spcBef>
              <a:defRPr sz="1400"/>
            </a:pPr>
            <a:r>
              <a:t>🔑 id (PRIMARY KEY)</a:t>
            </a:r>
          </a:p>
          <a:p>
            <a:pPr lvl="1">
              <a:spcBef>
                <a:spcPts val="400"/>
              </a:spcBef>
              <a:defRPr sz="1400"/>
            </a:pPr>
            <a:r>
              <a:t>👤 username (UNIQUE)</a:t>
            </a:r>
          </a:p>
          <a:p>
            <a:pPr lvl="1">
              <a:spcBef>
                <a:spcPts val="400"/>
              </a:spcBef>
              <a:defRPr sz="1400"/>
            </a:pPr>
            <a:r>
              <a:t>🔒 hashed_password (bcrypt)</a:t>
            </a:r>
          </a:p>
          <a:p>
            <a:pPr lvl="1">
              <a:spcBef>
                <a:spcPts val="400"/>
              </a:spcBef>
              <a:defRPr sz="1400"/>
            </a:pPr>
            <a:r>
              <a:t>🔐 encryption_key (Fernet)</a:t>
            </a:r>
          </a:p>
          <a:p>
            <a:pPr lvl="1">
              <a:spcBef>
                <a:spcPts val="400"/>
              </a:spcBef>
              <a:defRPr sz="1400"/>
            </a:pPr>
            <a:r>
              <a:t>💬 conversation_memory (encrypted JSON)</a:t>
            </a:r>
          </a:p>
          <a:p>
            <a:pPr lvl="1">
              <a:spcBef>
                <a:spcPts val="400"/>
              </a:spcBef>
              <a:defRPr sz="1400"/>
            </a:pPr>
            <a:r>
              <a:t>📧 email</a:t>
            </a:r>
          </a:p>
          <a:p>
            <a:pPr lvl="1">
              <a:spcBef>
                <a:spcPts val="400"/>
              </a:spcBef>
              <a:defRPr sz="1400"/>
            </a:pPr>
            <a:r>
              <a:t>👮 role (User/Admin)</a:t>
            </a:r>
          </a:p>
          <a:p>
            <a:pPr lvl="1">
              <a:spcBef>
                <a:spcPts val="400"/>
              </a:spcBef>
              <a:defRPr sz="1400"/>
            </a:pPr>
            <a:r>
              <a:t>✅ is_active</a:t>
            </a:r>
          </a:p>
          <a:p>
            <a:pPr>
              <a:spcBef>
                <a:spcPts val="1500"/>
              </a:spcBef>
              <a:defRPr sz="1800" b="1"/>
            </a:pPr>
            <a:r>
              <a:t>Relationships: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chat_rooms (creator)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messages (sender)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life_events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Many-to-Many with rooms (via room_members)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Many-to-Many with skills (via user_skills)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📊 Chat Rooms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>
                <a:solidFill>
                  <a:srgbClr val="3498DB"/>
                </a:solidFill>
              </a:defRPr>
            </a:pPr>
            <a:r>
              <a:t>Table: chat_rooms</a:t>
            </a:r>
          </a:p>
          <a:p>
            <a:pPr>
              <a:spcBef>
                <a:spcPts val="1500"/>
              </a:spcBef>
              <a:defRPr sz="1800" b="1"/>
            </a:pPr>
            <a:r>
              <a:t>Columns:</a:t>
            </a:r>
          </a:p>
          <a:p>
            <a:pPr lvl="1">
              <a:spcBef>
                <a:spcPts val="400"/>
              </a:spcBef>
              <a:defRPr sz="1400"/>
            </a:pPr>
            <a:r>
              <a:t>🔑 id (PRIMARY KEY)</a:t>
            </a:r>
          </a:p>
          <a:p>
            <a:pPr lvl="1">
              <a:spcBef>
                <a:spcPts val="400"/>
              </a:spcBef>
              <a:defRPr sz="1400"/>
            </a:pPr>
            <a:r>
              <a:t>📝 name</a:t>
            </a:r>
          </a:p>
          <a:p>
            <a:pPr lvl="1">
              <a:spcBef>
                <a:spcPts val="400"/>
              </a:spcBef>
              <a:defRPr sz="1400"/>
            </a:pPr>
            <a:r>
              <a:t>👤 creator_id (FOREIGN KEY → users.id)</a:t>
            </a:r>
          </a:p>
          <a:p>
            <a:pPr lvl="1">
              <a:spcBef>
                <a:spcPts val="400"/>
              </a:spcBef>
              <a:defRPr sz="1400"/>
            </a:pPr>
            <a:r>
              <a:t>🕐 created_at</a:t>
            </a:r>
          </a:p>
          <a:p>
            <a:pPr lvl="1">
              <a:spcBef>
                <a:spcPts val="400"/>
              </a:spcBef>
              <a:defRPr sz="1400"/>
            </a:pPr>
            <a:r>
              <a:t>🔓 is_public</a:t>
            </a:r>
          </a:p>
          <a:p>
            <a:pPr lvl="1">
              <a:spcBef>
                <a:spcPts val="400"/>
              </a:spcBef>
              <a:defRPr sz="1400"/>
            </a:pPr>
            <a:r>
              <a:t>🔒 password (optional)</a:t>
            </a:r>
          </a:p>
          <a:p>
            <a:pPr lvl="1">
              <a:spcBef>
                <a:spcPts val="400"/>
              </a:spcBef>
              <a:defRPr sz="1400"/>
            </a:pPr>
            <a:r>
              <a:t>🤖 ai_enabled</a:t>
            </a:r>
          </a:p>
          <a:p>
            <a:pPr lvl="1">
              <a:spcBef>
                <a:spcPts val="400"/>
              </a:spcBef>
              <a:defRPr sz="1400"/>
            </a:pPr>
            <a:r>
              <a:t>✅ is_active</a:t>
            </a:r>
          </a:p>
          <a:p>
            <a:pPr>
              <a:spcBef>
                <a:spcPts val="1500"/>
              </a:spcBef>
              <a:defRPr sz="1800" b="1"/>
            </a:pPr>
            <a:r>
              <a:t>Relationships: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Many-to-One with users (creator)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messages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room_members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room_invites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✨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🤖 AI Integration</a:t>
            </a:r>
          </a:p>
          <a:p>
            <a:pPr lvl="1">
              <a:spcBef>
                <a:spcPts val="400"/>
              </a:spcBef>
              <a:defRPr sz="1600"/>
            </a:pPr>
            <a:r>
              <a:t>GPT-4 powered conversations</a:t>
            </a:r>
          </a:p>
          <a:p>
            <a:pPr lvl="1">
              <a:spcBef>
                <a:spcPts val="400"/>
              </a:spcBef>
              <a:defRPr sz="1600"/>
            </a:pPr>
            <a:r>
              <a:t>8 specialized AI tools</a:t>
            </a:r>
          </a:p>
          <a:p>
            <a:pPr lvl="1">
              <a:spcBef>
                <a:spcPts val="400"/>
              </a:spcBef>
              <a:defRPr sz="1600"/>
            </a:pPr>
            <a:r>
              <a:t>Context-aware responses</a:t>
            </a:r>
          </a:p>
          <a:p>
            <a:pPr lvl="1">
              <a:spcBef>
                <a:spcPts val="400"/>
              </a:spcBef>
              <a:defRPr sz="1600"/>
            </a:pPr>
            <a:r>
              <a:t>Multi-language support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💬 Real-Time Chat</a:t>
            </a:r>
          </a:p>
          <a:p>
            <a:pPr lvl="1">
              <a:spcBef>
                <a:spcPts val="400"/>
              </a:spcBef>
              <a:defRPr sz="1600"/>
            </a:pPr>
            <a:r>
              <a:t>WebSocket communication</a:t>
            </a:r>
          </a:p>
          <a:p>
            <a:pPr lvl="1">
              <a:spcBef>
                <a:spcPts val="400"/>
              </a:spcBef>
              <a:defRPr sz="1600"/>
            </a:pPr>
            <a:r>
              <a:t>Public &amp; private rooms</a:t>
            </a:r>
          </a:p>
          <a:p>
            <a:pPr lvl="1">
              <a:spcBef>
                <a:spcPts val="400"/>
              </a:spcBef>
              <a:defRPr sz="1600"/>
            </a:pPr>
            <a:r>
              <a:t>Room invitations</a:t>
            </a:r>
          </a:p>
          <a:p>
            <a:pPr lvl="1">
              <a:spcBef>
                <a:spcPts val="400"/>
              </a:spcBef>
              <a:defRPr sz="1600"/>
            </a:pPr>
            <a:r>
              <a:t>Message history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🔒 Security</a:t>
            </a:r>
          </a:p>
          <a:p>
            <a:pPr lvl="1">
              <a:spcBef>
                <a:spcPts val="400"/>
              </a:spcBef>
              <a:defRPr sz="1600"/>
            </a:pPr>
            <a:r>
              <a:t>Bcrypt password hashing</a:t>
            </a:r>
          </a:p>
          <a:p>
            <a:pPr lvl="1">
              <a:spcBef>
                <a:spcPts val="400"/>
              </a:spcBef>
              <a:defRPr sz="1600"/>
            </a:pPr>
            <a:r>
              <a:t>Fernet encryption for memory</a:t>
            </a:r>
          </a:p>
          <a:p>
            <a:pPr lvl="1">
              <a:spcBef>
                <a:spcPts val="400"/>
              </a:spcBef>
              <a:defRPr sz="1600"/>
            </a:pPr>
            <a:r>
              <a:t>JWT authentication</a:t>
            </a:r>
          </a:p>
          <a:p>
            <a:pPr lvl="1">
              <a:spcBef>
                <a:spcPts val="400"/>
              </a:spcBef>
              <a:defRPr sz="1600"/>
            </a:pPr>
            <a:r>
              <a:t>User-isolated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🔧 Backend API Demo (Swagger UI)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ECF0F1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🎥 VIDEO: swagger_demo.mp4</a:t>
            </a:r>
          </a:p>
          <a:p/>
          <a:p>
            <a:r>
              <a:t>Demonstration of API endpoints using Swagger UI</a:t>
            </a:r>
          </a:p>
          <a:p>
            <a:r>
              <a:t>• Authentication</a:t>
            </a:r>
          </a:p>
          <a:p>
            <a:r>
              <a:t>• API testing</a:t>
            </a:r>
          </a:p>
          <a:p>
            <a:r>
              <a:t>• Real-time responses</a:t>
            </a:r>
          </a:p>
          <a:p/>
          <a:p>
            <a:r>
              <a:t>[Video will be embedded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📎 To add video: Insert &gt; Video &gt; Video from File &gt; Select 'swagger_demo.mp4'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🎨 Frontend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ECF0F1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🎥 VIDEO: frontend_demo.mp4</a:t>
            </a:r>
          </a:p>
          <a:p/>
          <a:p>
            <a:r>
              <a:t>User interface walkthrough</a:t>
            </a:r>
          </a:p>
          <a:p>
            <a:r>
              <a:t>• Chat functionality</a:t>
            </a:r>
          </a:p>
          <a:p>
            <a:r>
              <a:t>• Room management</a:t>
            </a:r>
          </a:p>
          <a:p>
            <a:r>
              <a:t>• AI interactions</a:t>
            </a:r>
          </a:p>
          <a:p/>
          <a:p>
            <a:r>
              <a:t>[Video will be embedded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📎 To add video: Insert &gt; Video &gt; Video from File &gt; Select 'frontend_demo.mp4'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🔒 Security &amp;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Password Security</a:t>
            </a:r>
          </a:p>
          <a:p>
            <a:pPr lvl="1">
              <a:spcBef>
                <a:spcPts val="400"/>
              </a:spcBef>
              <a:defRPr sz="1400"/>
            </a:pPr>
            <a:r>
              <a:t>✅ Bcrypt hashing (100% coverage)</a:t>
            </a:r>
          </a:p>
          <a:p>
            <a:pPr lvl="1">
              <a:spcBef>
                <a:spcPts val="400"/>
              </a:spcBef>
              <a:defRPr sz="1400"/>
            </a:pPr>
            <a:r>
              <a:t>✅ No plain-text passwords stored</a:t>
            </a:r>
          </a:p>
          <a:p>
            <a:pPr lvl="1">
              <a:spcBef>
                <a:spcPts val="400"/>
              </a:spcBef>
              <a:defRPr sz="1400"/>
            </a:pPr>
            <a:r>
              <a:t>✅ Secure password validation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Data Encryption</a:t>
            </a:r>
          </a:p>
          <a:p>
            <a:pPr lvl="1">
              <a:spcBef>
                <a:spcPts val="400"/>
              </a:spcBef>
              <a:defRPr sz="1400"/>
            </a:pPr>
            <a:r>
              <a:t>✅ Fernet encryption for conversations</a:t>
            </a:r>
          </a:p>
          <a:p>
            <a:pPr lvl="1">
              <a:spcBef>
                <a:spcPts val="400"/>
              </a:spcBef>
              <a:defRPr sz="1400"/>
            </a:pPr>
            <a:r>
              <a:t>✅ User-specific encryption keys</a:t>
            </a:r>
          </a:p>
          <a:p>
            <a:pPr lvl="1">
              <a:spcBef>
                <a:spcPts val="400"/>
              </a:spcBef>
              <a:defRPr sz="1400"/>
            </a:pPr>
            <a:r>
              <a:t>✅ 100% encrypted memory storage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Authentication</a:t>
            </a:r>
          </a:p>
          <a:p>
            <a:pPr lvl="1">
              <a:spcBef>
                <a:spcPts val="400"/>
              </a:spcBef>
              <a:defRPr sz="1400"/>
            </a:pPr>
            <a:r>
              <a:t>✅ JWT token-based auth</a:t>
            </a:r>
          </a:p>
          <a:p>
            <a:pPr lvl="1">
              <a:spcBef>
                <a:spcPts val="400"/>
              </a:spcBef>
              <a:defRPr sz="1400"/>
            </a:pPr>
            <a:r>
              <a:t>✅ 1-hour token expiration</a:t>
            </a:r>
          </a:p>
          <a:p>
            <a:pPr lvl="1">
              <a:spcBef>
                <a:spcPts val="400"/>
              </a:spcBef>
              <a:defRPr sz="1400"/>
            </a:pPr>
            <a:r>
              <a:t>✅ Token blacklist support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Test Results</a:t>
            </a:r>
          </a:p>
          <a:p>
            <a:pPr lvl="1">
              <a:spcBef>
                <a:spcPts val="400"/>
              </a:spcBef>
              <a:defRPr sz="1400"/>
            </a:pPr>
            <a:r>
              <a:t>✅ 30/30 users: Passwords hashed</a:t>
            </a:r>
          </a:p>
          <a:p>
            <a:pPr lvl="1">
              <a:spcBef>
                <a:spcPts val="400"/>
              </a:spcBef>
              <a:defRPr sz="1400"/>
            </a:pPr>
            <a:r>
              <a:t>✅ 30/30 users: Have encryption keys</a:t>
            </a:r>
          </a:p>
          <a:p>
            <a:pPr lvl="1">
              <a:spcBef>
                <a:spcPts val="400"/>
              </a:spcBef>
              <a:defRPr sz="1400"/>
            </a:pPr>
            <a:r>
              <a:t>✅ 11/11 users: Memory encrypted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⚡ Performance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Code Quality</a:t>
            </a:r>
          </a:p>
          <a:p>
            <a:pPr lvl="1">
              <a:spcBef>
                <a:spcPts val="600"/>
              </a:spcBef>
              <a:defRPr sz="1600"/>
            </a:pPr>
            <a:r>
              <a:t>✅ 36% code reduction (1,100 lines removed)</a:t>
            </a:r>
          </a:p>
          <a:p>
            <a:pPr lvl="1">
              <a:spcBef>
                <a:spcPts val="600"/>
              </a:spcBef>
              <a:defRPr sz="1600"/>
            </a:pPr>
            <a:r>
              <a:t>✅ Modular architecture</a:t>
            </a:r>
          </a:p>
          <a:p>
            <a:pPr lvl="1">
              <a:spcBef>
                <a:spcPts val="600"/>
              </a:spcBef>
              <a:defRPr sz="1600"/>
            </a:pPr>
            <a:r>
              <a:t>✅ Comprehensive docstrings</a:t>
            </a:r>
          </a:p>
          <a:p>
            <a:pPr lvl="1">
              <a:spcBef>
                <a:spcPts val="600"/>
              </a:spcBef>
              <a:defRPr sz="1600"/>
            </a:pPr>
            <a:r>
              <a:t>✅ Type hints throughout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Testing</a:t>
            </a:r>
          </a:p>
          <a:p>
            <a:pPr lvl="1">
              <a:spcBef>
                <a:spcPts val="600"/>
              </a:spcBef>
              <a:defRPr sz="1600"/>
            </a:pPr>
            <a:r>
              <a:t>✅ 100% test pass rate</a:t>
            </a:r>
          </a:p>
          <a:p>
            <a:pPr lvl="1">
              <a:spcBef>
                <a:spcPts val="600"/>
              </a:spcBef>
              <a:defRPr sz="1600"/>
            </a:pPr>
            <a:r>
              <a:t>✅ 20+ automated tests</a:t>
            </a:r>
          </a:p>
          <a:p>
            <a:pPr lvl="1">
              <a:spcBef>
                <a:spcPts val="600"/>
              </a:spcBef>
              <a:defRPr sz="1600"/>
            </a:pPr>
            <a:r>
              <a:t>✅ Zero breaking changes</a:t>
            </a:r>
          </a:p>
          <a:p>
            <a:pPr lvl="1">
              <a:spcBef>
                <a:spcPts val="600"/>
              </a:spcBef>
              <a:defRPr sz="1600"/>
            </a:pPr>
            <a:r>
              <a:t>✅ Authentication verified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API Performance</a:t>
            </a:r>
          </a:p>
          <a:p>
            <a:pPr lvl="1">
              <a:spcBef>
                <a:spcPts val="600"/>
              </a:spcBef>
              <a:defRPr sz="1600"/>
            </a:pPr>
            <a:r>
              <a:t>✅ 45+ endpoints available</a:t>
            </a:r>
          </a:p>
          <a:p>
            <a:pPr lvl="1">
              <a:spcBef>
                <a:spcPts val="600"/>
              </a:spcBef>
              <a:defRPr sz="1600"/>
            </a:pPr>
            <a:r>
              <a:t>✅ OpenAPI documentation</a:t>
            </a:r>
          </a:p>
          <a:p>
            <a:pPr lvl="1">
              <a:spcBef>
                <a:spcPts val="600"/>
              </a:spcBef>
              <a:defRPr sz="1600"/>
            </a:pPr>
            <a:r>
              <a:t>✅ Fast response times</a:t>
            </a:r>
          </a:p>
          <a:p>
            <a:pPr lvl="1">
              <a:spcBef>
                <a:spcPts val="600"/>
              </a:spcBef>
              <a:defRPr sz="1600"/>
            </a:pPr>
            <a:r>
              <a:t>✅ WebSocket real-time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📱 Mobile App Development (iOS/Android)</a:t>
            </a:r>
          </a:p>
          <a:p>
            <a:pPr>
              <a:spcBef>
                <a:spcPts val="1000"/>
              </a:spcBef>
              <a:defRPr sz="1800"/>
            </a:pPr>
            <a:r>
              <a:t>🌐 Multi-language UI Support</a:t>
            </a:r>
          </a:p>
          <a:p>
            <a:pPr>
              <a:spcBef>
                <a:spcPts val="1000"/>
              </a:spcBef>
              <a:defRPr sz="1800"/>
            </a:pPr>
            <a:r>
              <a:t>📊 Advanced Analytics Dashboard</a:t>
            </a:r>
          </a:p>
          <a:p>
            <a:pPr>
              <a:spcBef>
                <a:spcPts val="1000"/>
              </a:spcBef>
              <a:defRPr sz="1800"/>
            </a:pPr>
            <a:r>
              <a:t>🤖 More AI Tools &amp; Capabilities</a:t>
            </a:r>
          </a:p>
          <a:p>
            <a:pPr>
              <a:spcBef>
                <a:spcPts val="1000"/>
              </a:spcBef>
              <a:defRPr sz="1800"/>
            </a:pPr>
            <a:r>
              <a:t>🔄 Real-time Collaboration Features</a:t>
            </a:r>
          </a:p>
          <a:p>
            <a:pPr>
              <a:spcBef>
                <a:spcPts val="1000"/>
              </a:spcBef>
              <a:defRPr sz="1800"/>
            </a:pPr>
            <a:r>
              <a:t>📧 Email Notification System</a:t>
            </a:r>
          </a:p>
          <a:p>
            <a:pPr>
              <a:spcBef>
                <a:spcPts val="1000"/>
              </a:spcBef>
              <a:defRPr sz="1800"/>
            </a:pPr>
            <a:r>
              <a:t>🎨 Customizable UI Themes</a:t>
            </a:r>
          </a:p>
          <a:p>
            <a:pPr>
              <a:spcBef>
                <a:spcPts val="1000"/>
              </a:spcBef>
              <a:defRPr sz="1800"/>
            </a:pPr>
            <a:r>
              <a:t>🔗 Third-party Integrations (Slack, Discord)</a:t>
            </a:r>
          </a:p>
          <a:p>
            <a:pPr>
              <a:spcBef>
                <a:spcPts val="1000"/>
              </a:spcBef>
              <a:defRPr sz="1800"/>
            </a:pPr>
            <a:r>
              <a:t>📈 Scalability Improvements</a:t>
            </a:r>
          </a:p>
          <a:p>
            <a:pPr>
              <a:spcBef>
                <a:spcPts val="1000"/>
              </a:spcBef>
              <a:defRPr sz="1800"/>
            </a:pPr>
            <a:r>
              <a:t>🧠 Advanced Machine Learning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ECC7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AI Provider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Real-world testing: Speed, Cost, and Quality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Provider/Model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Cost/Query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7.73s ⚡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$0.0002 💵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⭐⭐⭐⭐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2.0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7.86s 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 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Development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Claude Sonnet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$0.0036 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Premium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LM Studio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28.87s 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 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Privacy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Response Speed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Average Response Time (seconds):</a:t>
            </a:r>
            <a:br/>
            <a:br/>
          </a:p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GPT-4o-mini                7.73s ⚡⚡⚡</a:t>
            </a:r>
            <a:br/>
            <a:r>
              <a:t>██████████</a:t>
            </a:r>
          </a:p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Gemini 2.0 Flash           7.86s ⚡⚡⚡</a:t>
            </a:r>
            <a:br/>
            <a:r>
              <a:t>██████████</a:t>
            </a:r>
          </a:p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Claude Sonnet 4.0          8.08s ⚡⚡</a:t>
            </a:r>
            <a:br/>
            <a:r>
              <a:t>██████████</a:t>
            </a:r>
          </a:p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LM Studio (Local)         28.87s 🐌</a:t>
            </a:r>
            <a:br/>
            <a:r>
              <a:t>██████████████████████████████████████</a:t>
            </a:r>
          </a:p>
          <a:p>
            <a:br/>
            <a:pPr>
              <a:defRPr sz="1400" b="1">
                <a:solidFill>
                  <a:srgbClr val="008000"/>
                </a:solidFill>
              </a:defRPr>
            </a:pPr>
            <a:r>
              <a:t>🏆 Winner: GPT-4o-mini (7.73s average)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Cost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Cost/Query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1K Queries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1M Queries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2.0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 🎉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$0.0002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$0.20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$200 💵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Claude Sonnet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$0.0036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$3,600 💰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LM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 🎉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💡 Key Insight: Claude is 18x more expensive than GPT-4o-mini for similar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Response Quality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spcAft>
                <a:spcPts val="500"/>
              </a:spcAft>
              <a:defRPr sz="1400" b="1"/>
            </a:pPr>
            <a:r>
              <a:t>GPT-4o-mini ⭐⭐⭐⭐</a:t>
            </a:r>
          </a:p>
          <a:p>
            <a:pPr lvl="1">
              <a:spcAft>
                <a:spcPts val="200"/>
              </a:spcAft>
              <a:defRPr sz="1000"/>
            </a:pPr>
            <a:r>
              <a:t>  ✓ Clear, well-structured responses</a:t>
            </a:r>
          </a:p>
          <a:p>
            <a:pPr lvl="1">
              <a:spcAft>
                <a:spcPts val="200"/>
              </a:spcAft>
              <a:defRPr sz="1000"/>
            </a:pPr>
            <a:r>
              <a:t>  ✓ Good balance of empathy and practical advice</a:t>
            </a:r>
          </a:p>
          <a:p>
            <a:pPr lvl="1">
              <a:spcAft>
                <a:spcPts val="200"/>
              </a:spcAft>
              <a:defRPr sz="1000"/>
            </a:pPr>
            <a:r>
              <a:t>  ✓ Consistent quality across all scenarios</a:t>
            </a:r>
          </a:p>
          <a:p>
            <a:pPr lvl="1">
              <a:spcAft>
                <a:spcPts val="200"/>
              </a:spcAft>
              <a:defRPr sz="1000"/>
            </a:pPr>
            <a:r>
              <a:t>  ✓ Average 376 tokens (concise)</a:t>
            </a:r>
          </a:p>
          <a:p>
            <a:br/>
            <a:pPr>
              <a:spcAft>
                <a:spcPts val="500"/>
              </a:spcAft>
              <a:defRPr sz="1400" b="1"/>
            </a:pPr>
            <a:r>
              <a:t>Gemini 2.0 Flash ⭐⭐⭐⭐</a:t>
            </a:r>
          </a:p>
          <a:p>
            <a:pPr lvl="1">
              <a:spcAft>
                <a:spcPts val="200"/>
              </a:spcAft>
              <a:defRPr sz="1000"/>
            </a:pPr>
            <a:r>
              <a:t>  ✓ Very detailed responses (973 tokens avg)</a:t>
            </a:r>
          </a:p>
          <a:p>
            <a:pPr lvl="1">
              <a:spcAft>
                <a:spcPts val="200"/>
              </a:spcAft>
              <a:defRPr sz="1000"/>
            </a:pPr>
            <a:r>
              <a:t>  ✓ Comprehensive analysis with multiple perspectives</a:t>
            </a:r>
          </a:p>
          <a:p>
            <a:pPr lvl="1">
              <a:spcAft>
                <a:spcPts val="200"/>
              </a:spcAft>
              <a:defRPr sz="1000"/>
            </a:pPr>
            <a:r>
              <a:t>  ✓ Excellent markdown formatting</a:t>
            </a:r>
          </a:p>
          <a:p>
            <a:pPr lvl="1">
              <a:spcAft>
                <a:spcPts val="200"/>
              </a:spcAft>
              <a:defRPr sz="1000"/>
            </a:pPr>
            <a:r>
              <a:t>  ✓ FREE tier available</a:t>
            </a:r>
          </a:p>
          <a:p>
            <a:br/>
            <a:pPr>
              <a:spcAft>
                <a:spcPts val="500"/>
              </a:spcAft>
              <a:defRPr sz="1400" b="1"/>
            </a:pPr>
            <a:r>
              <a:t>Claude Sonnet 4.0 ⭐⭐⭐⭐⭐</a:t>
            </a:r>
          </a:p>
          <a:p>
            <a:pPr lvl="1">
              <a:spcAft>
                <a:spcPts val="200"/>
              </a:spcAft>
              <a:defRPr sz="1000"/>
            </a:pPr>
            <a:r>
              <a:t>  ✓ Most professional and structured</a:t>
            </a:r>
          </a:p>
          <a:p>
            <a:pPr lvl="1">
              <a:spcAft>
                <a:spcPts val="200"/>
              </a:spcAft>
              <a:defRPr sz="1000"/>
            </a:pPr>
            <a:r>
              <a:t>  ✓ Concise and actionable (272 tokens)</a:t>
            </a:r>
          </a:p>
          <a:p>
            <a:pPr lvl="1">
              <a:spcAft>
                <a:spcPts val="200"/>
              </a:spcAft>
              <a:defRPr sz="1000"/>
            </a:pPr>
            <a:r>
              <a:t>  ✓ Superior markdown formatting</a:t>
            </a:r>
          </a:p>
          <a:p>
            <a:pPr lvl="1">
              <a:spcAft>
                <a:spcPts val="200"/>
              </a:spcAft>
              <a:defRPr sz="1000"/>
            </a:pPr>
            <a:r>
              <a:t>  ✓ Best for high-value interactions</a:t>
            </a:r>
          </a:p>
          <a:p>
            <a:br/>
            <a:pPr>
              <a:spcAft>
                <a:spcPts val="500"/>
              </a:spcAft>
              <a:defRPr sz="1400" b="1"/>
            </a:pPr>
            <a:r>
              <a:t>LM Studio ⭐⭐⭐</a:t>
            </a:r>
          </a:p>
          <a:p>
            <a:pPr lvl="1">
              <a:spcAft>
                <a:spcPts val="200"/>
              </a:spcAft>
              <a:defRPr sz="1000"/>
            </a:pPr>
            <a:r>
              <a:t>  ✓ Good detail with tables and formatting</a:t>
            </a:r>
          </a:p>
          <a:p>
            <a:pPr lvl="1">
              <a:spcAft>
                <a:spcPts val="200"/>
              </a:spcAft>
              <a:defRPr sz="1000"/>
            </a:pPr>
            <a:r>
              <a:t>  ✓ Complete privacy (offline)</a:t>
            </a:r>
          </a:p>
          <a:p>
            <a:pPr lvl="1">
              <a:spcAft>
                <a:spcPts val="200"/>
              </a:spcAft>
              <a:defRPr sz="1000"/>
            </a:pPr>
            <a:r>
              <a:t>  ✓ No API costs or limits</a:t>
            </a:r>
          </a:p>
          <a:p>
            <a:pPr lvl="1">
              <a:spcAft>
                <a:spcPts val="200"/>
              </a:spcAft>
              <a:defRPr sz="1000"/>
            </a:pPr>
            <a:r>
              <a:t>  ⚠ 3.7x slower than cloud options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Recommendations for Socializer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Recommended Provider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Fast (7.73s) + Cheap ($0.0002)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Gemini 2.0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FREE + Good quality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Premium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Claude Sonnet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Best quality + Professional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Privacy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LM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Offline + FREE + Private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💵 Estimated Monthly Cost (10,000 users):</a:t>
            </a:r>
            <a:br/>
          </a:p>
          <a:p>
            <a:pPr>
              <a:spcAft>
                <a:spcPts val="500"/>
              </a:spcAft>
              <a:defRPr sz="1200"/>
            </a:pPr>
            <a:r>
              <a:t>• 7,000 free users → Gemini (FREE)</a:t>
            </a:r>
            <a:br/>
            <a:r>
              <a:t>• 2,500 standard → GPT-4o-mini ($5/month)</a:t>
            </a:r>
            <a:br/>
            <a:r>
              <a:t>• 500 premium → Claude ($36/month)</a:t>
            </a:r>
          </a:p>
          <a:p>
            <a:br/>
            <a:pPr>
              <a:defRPr sz="1400" b="1">
                <a:solidFill>
                  <a:srgbClr val="008000"/>
                </a:solidFill>
              </a:defRPr>
            </a:pPr>
            <a:r>
              <a:t>🎯 Total: ~$41/month for all AI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