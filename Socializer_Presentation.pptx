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SOCIALIZER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ECC71"/>
                </a:solidFill>
              </a:defRPr>
            </a:pPr>
            <a:r>
              <a:t>AI-Powered Social Communication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CF0F1"/>
                </a:solidFill>
              </a:defRPr>
            </a:pPr>
            <a:r>
              <a:t>Presentation Date: November 12,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980B9"/>
                </a:solidFill>
              </a:defRPr>
            </a:pPr>
            <a:r>
              <a:t>📋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1. Project Overview</a:t>
            </a:r>
          </a:p>
          <a:p>
            <a:pPr>
              <a:spcBef>
                <a:spcPts val="1200"/>
              </a:spcBef>
              <a:defRPr sz="2000"/>
            </a:pPr>
            <a:r>
              <a:t>2. System Architecture</a:t>
            </a:r>
          </a:p>
          <a:p>
            <a:pPr>
              <a:spcBef>
                <a:spcPts val="1200"/>
              </a:spcBef>
              <a:defRPr sz="2000"/>
            </a:pPr>
            <a:r>
              <a:t>3. Database Structure &amp; Relations</a:t>
            </a:r>
          </a:p>
          <a:p>
            <a:pPr>
              <a:spcBef>
                <a:spcPts val="1200"/>
              </a:spcBef>
              <a:defRPr sz="2000"/>
            </a:pPr>
            <a:r>
              <a:t>4. Key Features</a:t>
            </a:r>
          </a:p>
          <a:p>
            <a:pPr>
              <a:spcBef>
                <a:spcPts val="1200"/>
              </a:spcBef>
              <a:defRPr sz="2000"/>
            </a:pPr>
            <a:r>
              <a:t>5. Backend API (Swagger Demo)</a:t>
            </a:r>
          </a:p>
          <a:p>
            <a:pPr>
              <a:spcBef>
                <a:spcPts val="1200"/>
              </a:spcBef>
              <a:defRPr sz="2000"/>
            </a:pPr>
            <a:r>
              <a:t>6. Frontend Demo</a:t>
            </a:r>
          </a:p>
          <a:p>
            <a:pPr>
              <a:spcBef>
                <a:spcPts val="1200"/>
              </a:spcBef>
              <a:defRPr sz="2000"/>
            </a:pPr>
            <a:r>
              <a:t>7. Security &amp; Encryption</a:t>
            </a:r>
          </a:p>
          <a:p>
            <a:pPr>
              <a:spcBef>
                <a:spcPts val="1200"/>
              </a:spcBef>
              <a:defRPr sz="2000"/>
            </a:pPr>
            <a:r>
              <a:t>8. Performance &amp; Scalability</a:t>
            </a:r>
          </a:p>
          <a:p>
            <a:pPr>
              <a:spcBef>
                <a:spcPts val="1200"/>
              </a:spcBef>
              <a:defRPr sz="2000"/>
            </a:pPr>
            <a:r>
              <a:t>9. Future Enhancements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980B9"/>
                </a:solidFill>
              </a:defRPr>
            </a:pPr>
            <a:r>
              <a:t>🎯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2000"/>
              </a:spcBef>
              <a:defRPr sz="2400" b="1"/>
            </a:pPr>
            <a:r>
              <a:t>What is Socializer?</a:t>
            </a:r>
          </a:p>
          <a:p>
            <a:pPr lvl="1">
              <a:spcBef>
                <a:spcPts val="800"/>
              </a:spcBef>
              <a:defRPr sz="1800"/>
            </a:pPr>
            <a:r>
              <a:t>AI-powered social communication platform</a:t>
            </a:r>
          </a:p>
          <a:p>
            <a:pPr lvl="1">
              <a:spcBef>
                <a:spcPts val="800"/>
              </a:spcBef>
              <a:defRPr sz="1800"/>
            </a:pPr>
            <a:r>
              <a:t>Real-time chat with AI assistance</a:t>
            </a:r>
          </a:p>
          <a:p>
            <a:pPr lvl="1">
              <a:spcBef>
                <a:spcPts val="800"/>
              </a:spcBef>
              <a:defRPr sz="1800"/>
            </a:pPr>
            <a:r>
              <a:t>Skill tracking and evaluation</a:t>
            </a:r>
          </a:p>
          <a:p>
            <a:pPr lvl="1">
              <a:spcBef>
                <a:spcPts val="800"/>
              </a:spcBef>
              <a:defRPr sz="1800"/>
            </a:pPr>
            <a:r>
              <a:t>Encrypted user data and conversations</a:t>
            </a:r>
          </a:p>
          <a:p>
            <a:pPr>
              <a:spcBef>
                <a:spcPts val="2000"/>
              </a:spcBef>
              <a:defRPr sz="2400" b="1"/>
            </a:pPr>
            <a:r>
              <a:t>Key Technologies</a:t>
            </a:r>
          </a:p>
          <a:p>
            <a:pPr lvl="1">
              <a:spcBef>
                <a:spcPts val="800"/>
              </a:spcBef>
              <a:defRPr sz="1800"/>
            </a:pPr>
            <a:r>
              <a:t>FastAPI backend (Python)</a:t>
            </a:r>
          </a:p>
          <a:p>
            <a:pPr lvl="1">
              <a:spcBef>
                <a:spcPts val="800"/>
              </a:spcBef>
              <a:defRPr sz="1800"/>
            </a:pPr>
            <a:r>
              <a:t>WebSocket for real-time communication</a:t>
            </a:r>
          </a:p>
          <a:p>
            <a:pPr lvl="1">
              <a:spcBef>
                <a:spcPts val="800"/>
              </a:spcBef>
              <a:defRPr sz="1800"/>
            </a:pPr>
            <a:r>
              <a:t>OpenAI GPT-4 integration</a:t>
            </a:r>
          </a:p>
          <a:p>
            <a:pPr lvl="1">
              <a:spcBef>
                <a:spcPts val="800"/>
              </a:spcBef>
              <a:defRPr sz="1800"/>
            </a:pPr>
            <a:r>
              <a:t>SQLite database with encryption</a:t>
            </a:r>
          </a:p>
          <a:p>
            <a:pPr lvl="1">
              <a:spcBef>
                <a:spcPts val="800"/>
              </a:spcBef>
              <a:defRPr sz="1800"/>
            </a:pPr>
            <a:r>
              <a:t>JWT authentication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980B9"/>
                </a:solidFill>
              </a:defRPr>
            </a:pPr>
            <a:r>
              <a:t>🏗️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 b="1">
                <a:solidFill>
                  <a:srgbClr val="3498DB"/>
                </a:solidFill>
              </a:defRPr>
            </a:pPr>
            <a:r>
              <a:t>Frontend Layer</a:t>
            </a:r>
          </a:p>
          <a:p>
            <a:pPr lvl="1">
              <a:spcBef>
                <a:spcPts val="600"/>
              </a:spcBef>
              <a:defRPr sz="1600"/>
            </a:pPr>
            <a:r>
              <a:t>• HTML/CSS/JavaScript</a:t>
            </a:r>
          </a:p>
          <a:p>
            <a:pPr lvl="1">
              <a:spcBef>
                <a:spcPts val="600"/>
              </a:spcBef>
              <a:defRPr sz="1600"/>
            </a:pPr>
            <a:r>
              <a:t>• WebSocket Client</a:t>
            </a:r>
          </a:p>
          <a:p>
            <a:pPr lvl="1">
              <a:spcBef>
                <a:spcPts val="600"/>
              </a:spcBef>
              <a:defRPr sz="1600"/>
            </a:pPr>
            <a:r>
              <a:t>• Responsive UI</a:t>
            </a:r>
          </a:p>
          <a:p>
            <a:pPr>
              <a:spcBef>
                <a:spcPts val="1200"/>
              </a:spcBef>
              <a:defRPr sz="2000" b="1">
                <a:solidFill>
                  <a:srgbClr val="3498DB"/>
                </a:solidFill>
              </a:defRPr>
            </a:pPr>
            <a:r>
              <a:t>API Layer</a:t>
            </a:r>
          </a:p>
          <a:p>
            <a:pPr lvl="1">
              <a:spcBef>
                <a:spcPts val="600"/>
              </a:spcBef>
              <a:defRPr sz="1600"/>
            </a:pPr>
            <a:r>
              <a:t>• FastAPI (45+ endpoints)</a:t>
            </a:r>
          </a:p>
          <a:p>
            <a:pPr lvl="1">
              <a:spcBef>
                <a:spcPts val="600"/>
              </a:spcBef>
              <a:defRPr sz="1600"/>
            </a:pPr>
            <a:r>
              <a:t>• RESTful API</a:t>
            </a:r>
          </a:p>
          <a:p>
            <a:pPr lvl="1">
              <a:spcBef>
                <a:spcPts val="600"/>
              </a:spcBef>
              <a:defRPr sz="1600"/>
            </a:pPr>
            <a:r>
              <a:t>• Swagger Documentation</a:t>
            </a:r>
          </a:p>
          <a:p>
            <a:pPr>
              <a:spcBef>
                <a:spcPts val="1200"/>
              </a:spcBef>
              <a:defRPr sz="2000" b="1">
                <a:solidFill>
                  <a:srgbClr val="3498DB"/>
                </a:solidFill>
              </a:defRPr>
            </a:pPr>
            <a:r>
              <a:t>Business Logic</a:t>
            </a:r>
          </a:p>
          <a:p>
            <a:pPr lvl="1">
              <a:spcBef>
                <a:spcPts val="600"/>
              </a:spcBef>
              <a:defRPr sz="1600"/>
            </a:pPr>
            <a:r>
              <a:t>• AI Agent (Modular)</a:t>
            </a:r>
          </a:p>
          <a:p>
            <a:pPr lvl="1">
              <a:spcBef>
                <a:spcPts val="600"/>
              </a:spcBef>
              <a:defRPr sz="1600"/>
            </a:pPr>
            <a:r>
              <a:t>• 5 Extracted Tools</a:t>
            </a:r>
          </a:p>
          <a:p>
            <a:pPr lvl="1">
              <a:spcBef>
                <a:spcPts val="600"/>
              </a:spcBef>
              <a:defRPr sz="1600"/>
            </a:pPr>
            <a:r>
              <a:t>• 3 Handler Classes</a:t>
            </a:r>
          </a:p>
          <a:p>
            <a:pPr>
              <a:spcBef>
                <a:spcPts val="1200"/>
              </a:spcBef>
              <a:defRPr sz="2000" b="1">
                <a:solidFill>
                  <a:srgbClr val="3498DB"/>
                </a:solidFill>
              </a:defRPr>
            </a:pPr>
            <a:r>
              <a:t>Data Layer</a:t>
            </a:r>
          </a:p>
          <a:p>
            <a:pPr lvl="1">
              <a:spcBef>
                <a:spcPts val="600"/>
              </a:spcBef>
              <a:defRPr sz="1600"/>
            </a:pPr>
            <a:r>
              <a:t>• SQLite Database</a:t>
            </a:r>
          </a:p>
          <a:p>
            <a:pPr lvl="1">
              <a:spcBef>
                <a:spcPts val="600"/>
              </a:spcBef>
              <a:defRPr sz="1600"/>
            </a:pPr>
            <a:r>
              <a:t>• 15 Tables</a:t>
            </a:r>
          </a:p>
          <a:p>
            <a:pPr lvl="1">
              <a:spcBef>
                <a:spcPts val="600"/>
              </a:spcBef>
              <a:defRPr sz="1600"/>
            </a:pPr>
            <a:r>
              <a:t>• Full Encryption</a:t>
            </a:r>
          </a:p>
          <a:p>
            <a:pPr>
              <a:spcBef>
                <a:spcPts val="1200"/>
              </a:spcBef>
              <a:defRPr sz="2000" b="1">
                <a:solidFill>
                  <a:srgbClr val="3498DB"/>
                </a:solidFill>
              </a:defRPr>
            </a:pPr>
            <a:r>
              <a:t>External Services</a:t>
            </a:r>
          </a:p>
          <a:p>
            <a:pPr lvl="1">
              <a:spcBef>
                <a:spcPts val="600"/>
              </a:spcBef>
              <a:defRPr sz="1600"/>
            </a:pPr>
            <a:r>
              <a:t>• OpenAI GPT-4</a:t>
            </a:r>
          </a:p>
          <a:p>
            <a:pPr lvl="1">
              <a:spcBef>
                <a:spcPts val="600"/>
              </a:spcBef>
              <a:defRPr sz="1600"/>
            </a:pPr>
            <a:r>
              <a:t>• Tavily Search</a:t>
            </a:r>
          </a:p>
          <a:p>
            <a:pPr lvl="1">
              <a:spcBef>
                <a:spcPts val="600"/>
              </a:spcBef>
              <a:defRPr sz="1600"/>
            </a:pPr>
            <a:r>
              <a:t>• Email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980B9"/>
                </a:solidFill>
              </a:defRPr>
            </a:pPr>
            <a:r>
              <a:t>🗄️ Database Schema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2000"/>
              </a:spcBef>
              <a:defRPr sz="2400" b="1"/>
            </a:pPr>
            <a:r>
              <a:t>📊 Entity-Relationship Diagram</a:t>
            </a:r>
          </a:p>
          <a:p>
            <a:pPr>
              <a:spcBef>
                <a:spcPts val="2000"/>
              </a:spcBef>
              <a:defRPr sz="1800" i="1">
                <a:solidFill>
                  <a:srgbClr val="969696"/>
                </a:solidFill>
              </a:defRPr>
            </a:pPr>
            <a:r>
              <a:t>[ER Diagram Image Will Be Added Here]</a:t>
            </a:r>
          </a:p>
          <a:p>
            <a:pPr>
              <a:spcBef>
                <a:spcPts val="3000"/>
              </a:spcBef>
              <a:defRPr sz="2000" b="1"/>
            </a:pPr>
            <a:r>
              <a:t>Core Tables (15):</a:t>
            </a:r>
          </a:p>
          <a:p>
            <a:pPr lvl="1">
              <a:spcBef>
                <a:spcPts val="800"/>
              </a:spcBef>
              <a:defRPr sz="1600"/>
            </a:pPr>
            <a:r>
              <a:t>👥 users - User accounts &amp; authentication</a:t>
            </a:r>
          </a:p>
          <a:p>
            <a:pPr lvl="1">
              <a:spcBef>
                <a:spcPts val="800"/>
              </a:spcBef>
              <a:defRPr sz="1600"/>
            </a:pPr>
            <a:r>
              <a:t>💬 chat_rooms - Communication spaces</a:t>
            </a:r>
          </a:p>
          <a:p>
            <a:pPr lvl="1">
              <a:spcBef>
                <a:spcPts val="800"/>
              </a:spcBef>
              <a:defRPr sz="1600"/>
            </a:pPr>
            <a:r>
              <a:t>📝 messages - Chat messages</a:t>
            </a:r>
          </a:p>
          <a:p>
            <a:pPr lvl="1">
              <a:spcBef>
                <a:spcPts val="800"/>
              </a:spcBef>
              <a:defRPr sz="1600"/>
            </a:pPr>
            <a:r>
              <a:t>🎯 skills - Skill definitions</a:t>
            </a:r>
          </a:p>
          <a:p>
            <a:pPr lvl="1">
              <a:spcBef>
                <a:spcPts val="800"/>
              </a:spcBef>
              <a:defRPr sz="1600"/>
            </a:pPr>
            <a:r>
              <a:t>📚 training - User training progress</a:t>
            </a:r>
          </a:p>
          <a:p>
            <a:pPr lvl="1">
              <a:spcBef>
                <a:spcPts val="800"/>
              </a:spcBef>
              <a:defRPr sz="1600"/>
            </a:pPr>
            <a:r>
              <a:t>🎪 life_events - User life events</a:t>
            </a:r>
          </a:p>
          <a:p>
            <a:pPr lvl="1">
              <a:spcBef>
                <a:spcPts val="800"/>
              </a:spcBef>
              <a:defRPr sz="1600"/>
            </a:pPr>
            <a:r>
              <a:t>🔒 user_preferences - Encrypted preferences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📊 Users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200" b="1">
                <a:solidFill>
                  <a:srgbClr val="3498DB"/>
                </a:solidFill>
              </a:defRPr>
            </a:pPr>
            <a:r>
              <a:t>Table: users</a:t>
            </a:r>
          </a:p>
          <a:p>
            <a:pPr>
              <a:spcBef>
                <a:spcPts val="1500"/>
              </a:spcBef>
              <a:defRPr sz="1800" b="1"/>
            </a:pPr>
            <a:r>
              <a:t>Columns:</a:t>
            </a:r>
          </a:p>
          <a:p>
            <a:pPr lvl="1">
              <a:spcBef>
                <a:spcPts val="400"/>
              </a:spcBef>
              <a:defRPr sz="1400"/>
            </a:pPr>
            <a:r>
              <a:t>🔑 id (PRIMARY KEY)</a:t>
            </a:r>
          </a:p>
          <a:p>
            <a:pPr lvl="1">
              <a:spcBef>
                <a:spcPts val="400"/>
              </a:spcBef>
              <a:defRPr sz="1400"/>
            </a:pPr>
            <a:r>
              <a:t>👤 username (UNIQUE)</a:t>
            </a:r>
          </a:p>
          <a:p>
            <a:pPr lvl="1">
              <a:spcBef>
                <a:spcPts val="400"/>
              </a:spcBef>
              <a:defRPr sz="1400"/>
            </a:pPr>
            <a:r>
              <a:t>🔒 hashed_password (bcrypt)</a:t>
            </a:r>
          </a:p>
          <a:p>
            <a:pPr lvl="1">
              <a:spcBef>
                <a:spcPts val="400"/>
              </a:spcBef>
              <a:defRPr sz="1400"/>
            </a:pPr>
            <a:r>
              <a:t>🔐 encryption_key (Fernet)</a:t>
            </a:r>
          </a:p>
          <a:p>
            <a:pPr lvl="1">
              <a:spcBef>
                <a:spcPts val="400"/>
              </a:spcBef>
              <a:defRPr sz="1400"/>
            </a:pPr>
            <a:r>
              <a:t>💬 conversation_memory (encrypted JSON)</a:t>
            </a:r>
          </a:p>
          <a:p>
            <a:pPr lvl="1">
              <a:spcBef>
                <a:spcPts val="400"/>
              </a:spcBef>
              <a:defRPr sz="1400"/>
            </a:pPr>
            <a:r>
              <a:t>📧 email</a:t>
            </a:r>
          </a:p>
          <a:p>
            <a:pPr lvl="1">
              <a:spcBef>
                <a:spcPts val="400"/>
              </a:spcBef>
              <a:defRPr sz="1400"/>
            </a:pPr>
            <a:r>
              <a:t>👮 role (User/Admin)</a:t>
            </a:r>
          </a:p>
          <a:p>
            <a:pPr lvl="1">
              <a:spcBef>
                <a:spcPts val="400"/>
              </a:spcBef>
              <a:defRPr sz="1400"/>
            </a:pPr>
            <a:r>
              <a:t>✅ is_active</a:t>
            </a:r>
          </a:p>
          <a:p>
            <a:pPr>
              <a:spcBef>
                <a:spcPts val="1500"/>
              </a:spcBef>
              <a:defRPr sz="1800" b="1"/>
            </a:pPr>
            <a:r>
              <a:t>Relationships:</a:t>
            </a:r>
          </a:p>
          <a:p>
            <a:pPr lvl="1">
              <a:spcBef>
                <a:spcPts val="400"/>
              </a:spcBef>
              <a:defRPr sz="1400"/>
            </a:pPr>
            <a:r>
              <a:t>→ One-to-Many with chat_rooms (creator)</a:t>
            </a:r>
          </a:p>
          <a:p>
            <a:pPr lvl="1">
              <a:spcBef>
                <a:spcPts val="400"/>
              </a:spcBef>
              <a:defRPr sz="1400"/>
            </a:pPr>
            <a:r>
              <a:t>→ One-to-Many with messages (sender)</a:t>
            </a:r>
          </a:p>
          <a:p>
            <a:pPr lvl="1">
              <a:spcBef>
                <a:spcPts val="400"/>
              </a:spcBef>
              <a:defRPr sz="1400"/>
            </a:pPr>
            <a:r>
              <a:t>→ One-to-Many with life_events</a:t>
            </a:r>
          </a:p>
          <a:p>
            <a:pPr lvl="1">
              <a:spcBef>
                <a:spcPts val="400"/>
              </a:spcBef>
              <a:defRPr sz="1400"/>
            </a:pPr>
            <a:r>
              <a:t>→ Many-to-Many with rooms (via room_members)</a:t>
            </a:r>
          </a:p>
          <a:p>
            <a:pPr lvl="1">
              <a:spcBef>
                <a:spcPts val="400"/>
              </a:spcBef>
              <a:defRPr sz="1400"/>
            </a:pPr>
            <a:r>
              <a:t>→ Many-to-Many with skills (via user_skills)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📊 Chat Rooms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200" b="1">
                <a:solidFill>
                  <a:srgbClr val="3498DB"/>
                </a:solidFill>
              </a:defRPr>
            </a:pPr>
            <a:r>
              <a:t>Table: chat_rooms</a:t>
            </a:r>
          </a:p>
          <a:p>
            <a:pPr>
              <a:spcBef>
                <a:spcPts val="1500"/>
              </a:spcBef>
              <a:defRPr sz="1800" b="1"/>
            </a:pPr>
            <a:r>
              <a:t>Columns:</a:t>
            </a:r>
          </a:p>
          <a:p>
            <a:pPr lvl="1">
              <a:spcBef>
                <a:spcPts val="400"/>
              </a:spcBef>
              <a:defRPr sz="1400"/>
            </a:pPr>
            <a:r>
              <a:t>🔑 id (PRIMARY KEY)</a:t>
            </a:r>
          </a:p>
          <a:p>
            <a:pPr lvl="1">
              <a:spcBef>
                <a:spcPts val="400"/>
              </a:spcBef>
              <a:defRPr sz="1400"/>
            </a:pPr>
            <a:r>
              <a:t>📝 name</a:t>
            </a:r>
          </a:p>
          <a:p>
            <a:pPr lvl="1">
              <a:spcBef>
                <a:spcPts val="400"/>
              </a:spcBef>
              <a:defRPr sz="1400"/>
            </a:pPr>
            <a:r>
              <a:t>👤 creator_id (FOREIGN KEY → users.id)</a:t>
            </a:r>
          </a:p>
          <a:p>
            <a:pPr lvl="1">
              <a:spcBef>
                <a:spcPts val="400"/>
              </a:spcBef>
              <a:defRPr sz="1400"/>
            </a:pPr>
            <a:r>
              <a:t>🕐 created_at</a:t>
            </a:r>
          </a:p>
          <a:p>
            <a:pPr lvl="1">
              <a:spcBef>
                <a:spcPts val="400"/>
              </a:spcBef>
              <a:defRPr sz="1400"/>
            </a:pPr>
            <a:r>
              <a:t>🔓 is_public</a:t>
            </a:r>
          </a:p>
          <a:p>
            <a:pPr lvl="1">
              <a:spcBef>
                <a:spcPts val="400"/>
              </a:spcBef>
              <a:defRPr sz="1400"/>
            </a:pPr>
            <a:r>
              <a:t>🔒 password (optional)</a:t>
            </a:r>
          </a:p>
          <a:p>
            <a:pPr lvl="1">
              <a:spcBef>
                <a:spcPts val="400"/>
              </a:spcBef>
              <a:defRPr sz="1400"/>
            </a:pPr>
            <a:r>
              <a:t>🤖 ai_enabled</a:t>
            </a:r>
          </a:p>
          <a:p>
            <a:pPr lvl="1">
              <a:spcBef>
                <a:spcPts val="400"/>
              </a:spcBef>
              <a:defRPr sz="1400"/>
            </a:pPr>
            <a:r>
              <a:t>✅ is_active</a:t>
            </a:r>
          </a:p>
          <a:p>
            <a:pPr>
              <a:spcBef>
                <a:spcPts val="1500"/>
              </a:spcBef>
              <a:defRPr sz="1800" b="1"/>
            </a:pPr>
            <a:r>
              <a:t>Relationships:</a:t>
            </a:r>
          </a:p>
          <a:p>
            <a:pPr lvl="1">
              <a:spcBef>
                <a:spcPts val="400"/>
              </a:spcBef>
              <a:defRPr sz="1400"/>
            </a:pPr>
            <a:r>
              <a:t>→ Many-to-One with users (creator)</a:t>
            </a:r>
          </a:p>
          <a:p>
            <a:pPr lvl="1">
              <a:spcBef>
                <a:spcPts val="400"/>
              </a:spcBef>
              <a:defRPr sz="1400"/>
            </a:pPr>
            <a:r>
              <a:t>→ One-to-Many with messages</a:t>
            </a:r>
          </a:p>
          <a:p>
            <a:pPr lvl="1">
              <a:spcBef>
                <a:spcPts val="400"/>
              </a:spcBef>
              <a:defRPr sz="1400"/>
            </a:pPr>
            <a:r>
              <a:t>→ One-to-Many with room_members</a:t>
            </a:r>
          </a:p>
          <a:p>
            <a:pPr lvl="1">
              <a:spcBef>
                <a:spcPts val="400"/>
              </a:spcBef>
              <a:defRPr sz="1400"/>
            </a:pPr>
            <a:r>
              <a:t>→ One-to-Many with room_invites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980B9"/>
                </a:solidFill>
              </a:defRPr>
            </a:pPr>
            <a:r>
              <a:t>✨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 b="1">
                <a:solidFill>
                  <a:srgbClr val="2ECC71"/>
                </a:solidFill>
              </a:defRPr>
            </a:pPr>
            <a:r>
              <a:t>🤖 AI Integration</a:t>
            </a:r>
          </a:p>
          <a:p>
            <a:pPr lvl="1">
              <a:spcBef>
                <a:spcPts val="400"/>
              </a:spcBef>
              <a:defRPr sz="1600"/>
            </a:pPr>
            <a:r>
              <a:t>GPT-4 powered conversations</a:t>
            </a:r>
          </a:p>
          <a:p>
            <a:pPr lvl="1">
              <a:spcBef>
                <a:spcPts val="400"/>
              </a:spcBef>
              <a:defRPr sz="1600"/>
            </a:pPr>
            <a:r>
              <a:t>8 specialized AI tools</a:t>
            </a:r>
          </a:p>
          <a:p>
            <a:pPr lvl="1">
              <a:spcBef>
                <a:spcPts val="400"/>
              </a:spcBef>
              <a:defRPr sz="1600"/>
            </a:pPr>
            <a:r>
              <a:t>Context-aware responses</a:t>
            </a:r>
          </a:p>
          <a:p>
            <a:pPr lvl="1">
              <a:spcBef>
                <a:spcPts val="400"/>
              </a:spcBef>
              <a:defRPr sz="1600"/>
            </a:pPr>
            <a:r>
              <a:t>Multi-language support</a:t>
            </a:r>
          </a:p>
          <a:p>
            <a:pPr>
              <a:spcBef>
                <a:spcPts val="1200"/>
              </a:spcBef>
              <a:defRPr sz="2000" b="1">
                <a:solidFill>
                  <a:srgbClr val="2ECC71"/>
                </a:solidFill>
              </a:defRPr>
            </a:pPr>
            <a:r>
              <a:t>💬 Real-Time Chat</a:t>
            </a:r>
          </a:p>
          <a:p>
            <a:pPr lvl="1">
              <a:spcBef>
                <a:spcPts val="400"/>
              </a:spcBef>
              <a:defRPr sz="1600"/>
            </a:pPr>
            <a:r>
              <a:t>WebSocket communication</a:t>
            </a:r>
          </a:p>
          <a:p>
            <a:pPr lvl="1">
              <a:spcBef>
                <a:spcPts val="400"/>
              </a:spcBef>
              <a:defRPr sz="1600"/>
            </a:pPr>
            <a:r>
              <a:t>Public &amp; private rooms</a:t>
            </a:r>
          </a:p>
          <a:p>
            <a:pPr lvl="1">
              <a:spcBef>
                <a:spcPts val="400"/>
              </a:spcBef>
              <a:defRPr sz="1600"/>
            </a:pPr>
            <a:r>
              <a:t>Room invitations</a:t>
            </a:r>
          </a:p>
          <a:p>
            <a:pPr lvl="1">
              <a:spcBef>
                <a:spcPts val="400"/>
              </a:spcBef>
              <a:defRPr sz="1600"/>
            </a:pPr>
            <a:r>
              <a:t>Message history</a:t>
            </a:r>
          </a:p>
          <a:p>
            <a:pPr>
              <a:spcBef>
                <a:spcPts val="1200"/>
              </a:spcBef>
              <a:defRPr sz="2000" b="1">
                <a:solidFill>
                  <a:srgbClr val="2ECC71"/>
                </a:solidFill>
              </a:defRPr>
            </a:pPr>
            <a:r>
              <a:t>🔒 Security</a:t>
            </a:r>
          </a:p>
          <a:p>
            <a:pPr lvl="1">
              <a:spcBef>
                <a:spcPts val="400"/>
              </a:spcBef>
              <a:defRPr sz="1600"/>
            </a:pPr>
            <a:r>
              <a:t>Bcrypt password hashing</a:t>
            </a:r>
          </a:p>
          <a:p>
            <a:pPr lvl="1">
              <a:spcBef>
                <a:spcPts val="400"/>
              </a:spcBef>
              <a:defRPr sz="1600"/>
            </a:pPr>
            <a:r>
              <a:t>Fernet encryption for memory</a:t>
            </a:r>
          </a:p>
          <a:p>
            <a:pPr lvl="1">
              <a:spcBef>
                <a:spcPts val="400"/>
              </a:spcBef>
              <a:defRPr sz="1600"/>
            </a:pPr>
            <a:r>
              <a:t>JWT authentication</a:t>
            </a:r>
          </a:p>
          <a:p>
            <a:pPr lvl="1">
              <a:spcBef>
                <a:spcPts val="400"/>
              </a:spcBef>
              <a:defRPr sz="1600"/>
            </a:pPr>
            <a:r>
              <a:t>User-isolated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980B9"/>
                </a:solidFill>
              </a:defRPr>
            </a:pPr>
            <a:r>
              <a:t>🔧 Backend API Demo (Swagger UI)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6400800" cy="3657600"/>
          </a:xfrm>
          <a:prstGeom prst="rect">
            <a:avLst/>
          </a:prstGeom>
          <a:solidFill>
            <a:srgbClr val="ECF0F1"/>
          </a:solidFill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🎥 VIDEO: swagger_demo.mp4</a:t>
            </a:r>
          </a:p>
          <a:p/>
          <a:p>
            <a:r>
              <a:t>Demonstration of API endpoints using Swagger UI</a:t>
            </a:r>
          </a:p>
          <a:p>
            <a:r>
              <a:t>• Authentication</a:t>
            </a:r>
          </a:p>
          <a:p>
            <a:r>
              <a:t>• API testing</a:t>
            </a:r>
          </a:p>
          <a:p>
            <a:r>
              <a:t>• Real-time responses</a:t>
            </a:r>
          </a:p>
          <a:p/>
          <a:p>
            <a:r>
              <a:t>[Video will be embedded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📎 To add video: Insert &gt; Video &gt; Video from File &gt; Select 'swagger_demo.mp4'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980B9"/>
                </a:solidFill>
              </a:defRPr>
            </a:pPr>
            <a:r>
              <a:t>🎨 Frontend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6400800" cy="3657600"/>
          </a:xfrm>
          <a:prstGeom prst="rect">
            <a:avLst/>
          </a:prstGeom>
          <a:solidFill>
            <a:srgbClr val="ECF0F1"/>
          </a:solidFill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🎥 VIDEO: frontend_demo.mp4</a:t>
            </a:r>
          </a:p>
          <a:p/>
          <a:p>
            <a:r>
              <a:t>User interface walkthrough</a:t>
            </a:r>
          </a:p>
          <a:p>
            <a:r>
              <a:t>• Chat functionality</a:t>
            </a:r>
          </a:p>
          <a:p>
            <a:r>
              <a:t>• Room management</a:t>
            </a:r>
          </a:p>
          <a:p>
            <a:r>
              <a:t>• AI interactions</a:t>
            </a:r>
          </a:p>
          <a:p/>
          <a:p>
            <a:r>
              <a:t>[Video will be embedded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📎 To add video: Insert &gt; Video &gt; Video from File &gt; Select 'frontend_demo.mp4'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980B9"/>
                </a:solidFill>
              </a:defRPr>
            </a:pPr>
            <a:r>
              <a:t>🔒 Security &amp; Encryption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1800" b="1">
                <a:solidFill>
                  <a:srgbClr val="2ECC71"/>
                </a:solidFill>
              </a:defRPr>
            </a:pPr>
            <a:r>
              <a:t>Password Security</a:t>
            </a:r>
          </a:p>
          <a:p>
            <a:pPr lvl="1">
              <a:spcBef>
                <a:spcPts val="400"/>
              </a:spcBef>
              <a:defRPr sz="1400"/>
            </a:pPr>
            <a:r>
              <a:t>✅ Bcrypt hashing (100% coverage)</a:t>
            </a:r>
          </a:p>
          <a:p>
            <a:pPr lvl="1">
              <a:spcBef>
                <a:spcPts val="400"/>
              </a:spcBef>
              <a:defRPr sz="1400"/>
            </a:pPr>
            <a:r>
              <a:t>✅ No plain-text passwords stored</a:t>
            </a:r>
          </a:p>
          <a:p>
            <a:pPr lvl="1">
              <a:spcBef>
                <a:spcPts val="400"/>
              </a:spcBef>
              <a:defRPr sz="1400"/>
            </a:pPr>
            <a:r>
              <a:t>✅ Secure password validation</a:t>
            </a:r>
          </a:p>
          <a:p>
            <a:pPr>
              <a:spcBef>
                <a:spcPts val="1200"/>
              </a:spcBef>
              <a:defRPr sz="1800" b="1">
                <a:solidFill>
                  <a:srgbClr val="2ECC71"/>
                </a:solidFill>
              </a:defRPr>
            </a:pPr>
            <a:r>
              <a:t>Data Encryption</a:t>
            </a:r>
          </a:p>
          <a:p>
            <a:pPr lvl="1">
              <a:spcBef>
                <a:spcPts val="400"/>
              </a:spcBef>
              <a:defRPr sz="1400"/>
            </a:pPr>
            <a:r>
              <a:t>✅ Fernet encryption for conversations</a:t>
            </a:r>
          </a:p>
          <a:p>
            <a:pPr lvl="1">
              <a:spcBef>
                <a:spcPts val="400"/>
              </a:spcBef>
              <a:defRPr sz="1400"/>
            </a:pPr>
            <a:r>
              <a:t>✅ User-specific encryption keys</a:t>
            </a:r>
          </a:p>
          <a:p>
            <a:pPr lvl="1">
              <a:spcBef>
                <a:spcPts val="400"/>
              </a:spcBef>
              <a:defRPr sz="1400"/>
            </a:pPr>
            <a:r>
              <a:t>✅ 100% encrypted memory storage</a:t>
            </a:r>
          </a:p>
          <a:p>
            <a:pPr>
              <a:spcBef>
                <a:spcPts val="1200"/>
              </a:spcBef>
              <a:defRPr sz="1800" b="1">
                <a:solidFill>
                  <a:srgbClr val="2ECC71"/>
                </a:solidFill>
              </a:defRPr>
            </a:pPr>
            <a:r>
              <a:t>Authentication</a:t>
            </a:r>
          </a:p>
          <a:p>
            <a:pPr lvl="1">
              <a:spcBef>
                <a:spcPts val="400"/>
              </a:spcBef>
              <a:defRPr sz="1400"/>
            </a:pPr>
            <a:r>
              <a:t>✅ JWT token-based auth</a:t>
            </a:r>
          </a:p>
          <a:p>
            <a:pPr lvl="1">
              <a:spcBef>
                <a:spcPts val="400"/>
              </a:spcBef>
              <a:defRPr sz="1400"/>
            </a:pPr>
            <a:r>
              <a:t>✅ 1-hour token expiration</a:t>
            </a:r>
          </a:p>
          <a:p>
            <a:pPr lvl="1">
              <a:spcBef>
                <a:spcPts val="400"/>
              </a:spcBef>
              <a:defRPr sz="1400"/>
            </a:pPr>
            <a:r>
              <a:t>✅ Token blacklist support</a:t>
            </a:r>
          </a:p>
          <a:p>
            <a:pPr>
              <a:spcBef>
                <a:spcPts val="1200"/>
              </a:spcBef>
              <a:defRPr sz="1800" b="1">
                <a:solidFill>
                  <a:srgbClr val="2ECC71"/>
                </a:solidFill>
              </a:defRPr>
            </a:pPr>
            <a:r>
              <a:t>Test Results</a:t>
            </a:r>
          </a:p>
          <a:p>
            <a:pPr lvl="1">
              <a:spcBef>
                <a:spcPts val="400"/>
              </a:spcBef>
              <a:defRPr sz="1400"/>
            </a:pPr>
            <a:r>
              <a:t>✅ 30/30 users: Passwords hashed</a:t>
            </a:r>
          </a:p>
          <a:p>
            <a:pPr lvl="1">
              <a:spcBef>
                <a:spcPts val="400"/>
              </a:spcBef>
              <a:defRPr sz="1400"/>
            </a:pPr>
            <a:r>
              <a:t>✅ 30/30 users: Have encryption keys</a:t>
            </a:r>
          </a:p>
          <a:p>
            <a:pPr lvl="1">
              <a:spcBef>
                <a:spcPts val="400"/>
              </a:spcBef>
              <a:defRPr sz="1400"/>
            </a:pPr>
            <a:r>
              <a:t>✅ 11/11 users: Memory encrypted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980B9"/>
                </a:solidFill>
              </a:defRPr>
            </a:pPr>
            <a:r>
              <a:t>⚡ Performance &amp;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 b="1">
                <a:solidFill>
                  <a:srgbClr val="3498DB"/>
                </a:solidFill>
              </a:defRPr>
            </a:pPr>
            <a:r>
              <a:t>Code Quality</a:t>
            </a:r>
          </a:p>
          <a:p>
            <a:pPr lvl="1">
              <a:spcBef>
                <a:spcPts val="600"/>
              </a:spcBef>
              <a:defRPr sz="1600"/>
            </a:pPr>
            <a:r>
              <a:t>✅ 36% code reduction (1,100 lines removed)</a:t>
            </a:r>
          </a:p>
          <a:p>
            <a:pPr lvl="1">
              <a:spcBef>
                <a:spcPts val="600"/>
              </a:spcBef>
              <a:defRPr sz="1600"/>
            </a:pPr>
            <a:r>
              <a:t>✅ Modular architecture</a:t>
            </a:r>
          </a:p>
          <a:p>
            <a:pPr lvl="1">
              <a:spcBef>
                <a:spcPts val="600"/>
              </a:spcBef>
              <a:defRPr sz="1600"/>
            </a:pPr>
            <a:r>
              <a:t>✅ Comprehensive docstrings</a:t>
            </a:r>
          </a:p>
          <a:p>
            <a:pPr lvl="1">
              <a:spcBef>
                <a:spcPts val="600"/>
              </a:spcBef>
              <a:defRPr sz="1600"/>
            </a:pPr>
            <a:r>
              <a:t>✅ Type hints throughout</a:t>
            </a:r>
          </a:p>
          <a:p>
            <a:pPr>
              <a:spcBef>
                <a:spcPts val="1200"/>
              </a:spcBef>
              <a:defRPr sz="2000" b="1">
                <a:solidFill>
                  <a:srgbClr val="3498DB"/>
                </a:solidFill>
              </a:defRPr>
            </a:pPr>
            <a:r>
              <a:t>Testing</a:t>
            </a:r>
          </a:p>
          <a:p>
            <a:pPr lvl="1">
              <a:spcBef>
                <a:spcPts val="600"/>
              </a:spcBef>
              <a:defRPr sz="1600"/>
            </a:pPr>
            <a:r>
              <a:t>✅ 100% test pass rate</a:t>
            </a:r>
          </a:p>
          <a:p>
            <a:pPr lvl="1">
              <a:spcBef>
                <a:spcPts val="600"/>
              </a:spcBef>
              <a:defRPr sz="1600"/>
            </a:pPr>
            <a:r>
              <a:t>✅ 20+ automated tests</a:t>
            </a:r>
          </a:p>
          <a:p>
            <a:pPr lvl="1">
              <a:spcBef>
                <a:spcPts val="600"/>
              </a:spcBef>
              <a:defRPr sz="1600"/>
            </a:pPr>
            <a:r>
              <a:t>✅ Zero breaking changes</a:t>
            </a:r>
          </a:p>
          <a:p>
            <a:pPr lvl="1">
              <a:spcBef>
                <a:spcPts val="600"/>
              </a:spcBef>
              <a:defRPr sz="1600"/>
            </a:pPr>
            <a:r>
              <a:t>✅ Authentication verified</a:t>
            </a:r>
          </a:p>
          <a:p>
            <a:pPr>
              <a:spcBef>
                <a:spcPts val="1200"/>
              </a:spcBef>
              <a:defRPr sz="2000" b="1">
                <a:solidFill>
                  <a:srgbClr val="3498DB"/>
                </a:solidFill>
              </a:defRPr>
            </a:pPr>
            <a:r>
              <a:t>API Performance</a:t>
            </a:r>
          </a:p>
          <a:p>
            <a:pPr lvl="1">
              <a:spcBef>
                <a:spcPts val="600"/>
              </a:spcBef>
              <a:defRPr sz="1600"/>
            </a:pPr>
            <a:r>
              <a:t>✅ 45+ endpoints available</a:t>
            </a:r>
          </a:p>
          <a:p>
            <a:pPr lvl="1">
              <a:spcBef>
                <a:spcPts val="600"/>
              </a:spcBef>
              <a:defRPr sz="1600"/>
            </a:pPr>
            <a:r>
              <a:t>✅ OpenAPI documentation</a:t>
            </a:r>
          </a:p>
          <a:p>
            <a:pPr lvl="1">
              <a:spcBef>
                <a:spcPts val="600"/>
              </a:spcBef>
              <a:defRPr sz="1600"/>
            </a:pPr>
            <a:r>
              <a:t>✅ Fast response times</a:t>
            </a:r>
          </a:p>
          <a:p>
            <a:pPr lvl="1">
              <a:spcBef>
                <a:spcPts val="600"/>
              </a:spcBef>
              <a:defRPr sz="1600"/>
            </a:pPr>
            <a:r>
              <a:t>✅ WebSocket real-time updates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980B9"/>
                </a:solidFill>
              </a:defRPr>
            </a:pPr>
            <a:r>
              <a:t>🚀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1800"/>
            </a:pPr>
            <a:r>
              <a:t>📱 Mobile App Development (iOS/Android)</a:t>
            </a:r>
          </a:p>
          <a:p>
            <a:pPr>
              <a:spcBef>
                <a:spcPts val="1000"/>
              </a:spcBef>
              <a:defRPr sz="1800"/>
            </a:pPr>
            <a:r>
              <a:t>🌐 Multi-language UI Support</a:t>
            </a:r>
          </a:p>
          <a:p>
            <a:pPr>
              <a:spcBef>
                <a:spcPts val="1000"/>
              </a:spcBef>
              <a:defRPr sz="1800"/>
            </a:pPr>
            <a:r>
              <a:t>📊 Advanced Analytics Dashboard</a:t>
            </a:r>
          </a:p>
          <a:p>
            <a:pPr>
              <a:spcBef>
                <a:spcPts val="1000"/>
              </a:spcBef>
              <a:defRPr sz="1800"/>
            </a:pPr>
            <a:r>
              <a:t>🤖 More AI Tools &amp; Capabilities</a:t>
            </a:r>
          </a:p>
          <a:p>
            <a:pPr>
              <a:spcBef>
                <a:spcPts val="1000"/>
              </a:spcBef>
              <a:defRPr sz="1800"/>
            </a:pPr>
            <a:r>
              <a:t>🔄 Real-time Collaboration Features</a:t>
            </a:r>
          </a:p>
          <a:p>
            <a:pPr>
              <a:spcBef>
                <a:spcPts val="1000"/>
              </a:spcBef>
              <a:defRPr sz="1800"/>
            </a:pPr>
            <a:r>
              <a:t>📧 Email Notification System</a:t>
            </a:r>
          </a:p>
          <a:p>
            <a:pPr>
              <a:spcBef>
                <a:spcPts val="1000"/>
              </a:spcBef>
              <a:defRPr sz="1800"/>
            </a:pPr>
            <a:r>
              <a:t>🎨 Customizable UI Themes</a:t>
            </a:r>
          </a:p>
          <a:p>
            <a:pPr>
              <a:spcBef>
                <a:spcPts val="1000"/>
              </a:spcBef>
              <a:defRPr sz="1800"/>
            </a:pPr>
            <a:r>
              <a:t>🔗 Third-party Integrations (Slack, Discord)</a:t>
            </a:r>
          </a:p>
          <a:p>
            <a:pPr>
              <a:spcBef>
                <a:spcPts val="1000"/>
              </a:spcBef>
              <a:defRPr sz="1800"/>
            </a:pPr>
            <a:r>
              <a:t>📈 Scalability Improvements</a:t>
            </a:r>
          </a:p>
          <a:p>
            <a:pPr>
              <a:spcBef>
                <a:spcPts val="1000"/>
              </a:spcBef>
              <a:defRPr sz="1800"/>
            </a:pPr>
            <a:r>
              <a:t>🧠 Advanced Machine Learning Features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2ECC71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